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0" r:id="rId9"/>
    <p:sldId id="265" r:id="rId10"/>
    <p:sldId id="266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53" y="7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A8B060-90A6-426A-9986-DD2BD749FA9A}" type="datetimeFigureOut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C93DEB-EC08-4401-8415-9B6ABF0978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8141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93DEB-EC08-4401-8415-9B6ABF09783E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86612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「既存の映画レビューサイトは</a:t>
            </a:r>
            <a:r>
              <a:rPr lang="en-US" altLang="ja-JP" dirty="0"/>
              <a:t>『</a:t>
            </a:r>
            <a:r>
              <a:rPr lang="ja-JP" altLang="en-US" dirty="0"/>
              <a:t>ジャンル別</a:t>
            </a:r>
            <a:r>
              <a:rPr lang="en-US" altLang="ja-JP" dirty="0"/>
              <a:t>』</a:t>
            </a:r>
            <a:r>
              <a:rPr lang="ja-JP" altLang="en-US" dirty="0"/>
              <a:t>や</a:t>
            </a:r>
            <a:r>
              <a:rPr lang="en-US" altLang="ja-JP" dirty="0"/>
              <a:t>『</a:t>
            </a:r>
            <a:r>
              <a:rPr lang="ja-JP" altLang="en-US" dirty="0"/>
              <a:t>評価の点数別</a:t>
            </a:r>
            <a:r>
              <a:rPr lang="en-US" altLang="ja-JP" dirty="0"/>
              <a:t>』</a:t>
            </a:r>
            <a:r>
              <a:rPr lang="ja-JP" altLang="en-US" dirty="0"/>
              <a:t>で探すものが多く、</a:t>
            </a:r>
            <a:r>
              <a:rPr lang="en-US" altLang="ja-JP" dirty="0"/>
              <a:t>『</a:t>
            </a:r>
            <a:r>
              <a:rPr lang="ja-JP" altLang="en-US" dirty="0"/>
              <a:t>今の気分（泣きたい、スカッとしたい等）</a:t>
            </a:r>
            <a:r>
              <a:rPr lang="en-US" altLang="ja-JP" dirty="0"/>
              <a:t>』</a:t>
            </a:r>
            <a:r>
              <a:rPr lang="ja-JP" altLang="en-US" dirty="0"/>
              <a:t>にピッタリ合う作品を直感的に探せるサービスがあったら便利だと感じ開発しました。」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93DEB-EC08-4401-8415-9B6ABF09783E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47354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b="1" dirty="0"/>
              <a:t>TMDB API</a:t>
            </a:r>
            <a:r>
              <a:rPr lang="ja-JP" altLang="en-US" b="1" dirty="0"/>
              <a:t>による自動取得</a:t>
            </a:r>
            <a:r>
              <a:rPr lang="en-US" altLang="ja-JP" b="1" dirty="0"/>
              <a:t>:</a:t>
            </a:r>
            <a:r>
              <a:rPr lang="ja-JP" altLang="en-US" dirty="0"/>
              <a:t> 「映画データ（ポスター画像やあらすじ等）を</a:t>
            </a:r>
            <a:r>
              <a:rPr lang="en-US" altLang="ja-JP" dirty="0"/>
              <a:t>API</a:t>
            </a:r>
            <a:r>
              <a:rPr lang="ja-JP" altLang="en-US" dirty="0"/>
              <a:t>連携で自動取得し、入力の手間を省いています。」</a:t>
            </a:r>
            <a:endParaRPr lang="en-US" altLang="ja-JP" dirty="0"/>
          </a:p>
          <a:p>
            <a:r>
              <a:rPr lang="ja-JP" altLang="en-US" b="1" dirty="0"/>
              <a:t>感情タグ選定</a:t>
            </a:r>
            <a:r>
              <a:rPr lang="en-US" altLang="ja-JP" b="1" dirty="0"/>
              <a:t>:</a:t>
            </a:r>
            <a:r>
              <a:rPr lang="ja-JP" altLang="en-US" dirty="0"/>
              <a:t> 「単なるジャンル（アクション、ホラー等）ではなく、</a:t>
            </a:r>
            <a:r>
              <a:rPr lang="en-US" altLang="ja-JP" dirty="0"/>
              <a:t>『</a:t>
            </a:r>
            <a:r>
              <a:rPr lang="ja-JP" altLang="en-US" dirty="0"/>
              <a:t>号泣</a:t>
            </a:r>
            <a:r>
              <a:rPr lang="en-US" altLang="ja-JP" dirty="0"/>
              <a:t>』『</a:t>
            </a:r>
            <a:r>
              <a:rPr lang="ja-JP" altLang="en-US" dirty="0"/>
              <a:t>スカッと</a:t>
            </a:r>
            <a:r>
              <a:rPr lang="en-US" altLang="ja-JP" dirty="0"/>
              <a:t>』</a:t>
            </a:r>
            <a:r>
              <a:rPr lang="ja-JP" altLang="en-US" dirty="0"/>
              <a:t>など</a:t>
            </a:r>
            <a:r>
              <a:rPr lang="en-US" altLang="ja-JP" dirty="0"/>
              <a:t>『</a:t>
            </a:r>
            <a:r>
              <a:rPr lang="ja-JP" altLang="en-US" dirty="0"/>
              <a:t>鑑賞後にどういう気分になりたいか</a:t>
            </a:r>
            <a:r>
              <a:rPr lang="en-US" altLang="ja-JP" dirty="0"/>
              <a:t>』</a:t>
            </a:r>
            <a:r>
              <a:rPr lang="ja-JP" altLang="en-US" dirty="0"/>
              <a:t>というユーザーの感情に寄り添ったタグ設計にこだわりました。」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93DEB-EC08-4401-8415-9B6ABF09783E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82644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b="1" dirty="0"/>
              <a:t>Vanilla JS</a:t>
            </a:r>
            <a:r>
              <a:rPr lang="ja-JP" altLang="en-US" b="1" dirty="0"/>
              <a:t>選定理由</a:t>
            </a:r>
            <a:r>
              <a:rPr lang="en-US" altLang="ja-JP" b="1" dirty="0"/>
              <a:t>:</a:t>
            </a:r>
            <a:r>
              <a:rPr lang="ja-JP" altLang="en-US" dirty="0"/>
              <a:t> 「</a:t>
            </a:r>
            <a:r>
              <a:rPr lang="en-US" altLang="ja-JP" dirty="0"/>
              <a:t>React</a:t>
            </a:r>
            <a:r>
              <a:rPr lang="ja-JP" altLang="en-US" dirty="0"/>
              <a:t>等のフレームワークを使わず標準</a:t>
            </a:r>
            <a:r>
              <a:rPr lang="en-US" altLang="ja-JP" dirty="0"/>
              <a:t>JavaScript</a:t>
            </a:r>
            <a:r>
              <a:rPr lang="ja-JP" altLang="en-US" dirty="0"/>
              <a:t>にすることで、動作を軽量に保ちつつ動的な</a:t>
            </a:r>
            <a:r>
              <a:rPr lang="en-US" altLang="ja-JP" dirty="0"/>
              <a:t>UI</a:t>
            </a:r>
            <a:r>
              <a:rPr lang="ja-JP" altLang="en-US" dirty="0"/>
              <a:t>（スライダー連動）を実現しました。」</a:t>
            </a:r>
            <a:endParaRPr lang="en-US" altLang="ja-JP" dirty="0"/>
          </a:p>
          <a:p>
            <a:endParaRPr lang="ja-JP" altLang="en-US" dirty="0"/>
          </a:p>
          <a:p>
            <a:pPr lvl="1"/>
            <a:r>
              <a:rPr lang="en-US" altLang="ja-JP" b="1" dirty="0"/>
              <a:t>Tailwind CSS / Blade:</a:t>
            </a:r>
            <a:r>
              <a:rPr lang="ja-JP" altLang="en-US" dirty="0"/>
              <a:t> 「</a:t>
            </a:r>
            <a:r>
              <a:rPr lang="en-US" altLang="ja-JP" dirty="0"/>
              <a:t>Blade</a:t>
            </a:r>
            <a:r>
              <a:rPr lang="ja-JP" altLang="en-US" dirty="0"/>
              <a:t>テンプレートで</a:t>
            </a:r>
            <a:r>
              <a:rPr lang="en-US" altLang="ja-JP" dirty="0"/>
              <a:t>UI</a:t>
            </a:r>
            <a:r>
              <a:rPr lang="ja-JP" altLang="en-US" dirty="0"/>
              <a:t>コンポーネントを共通化し、</a:t>
            </a:r>
            <a:r>
              <a:rPr lang="en-US" altLang="ja-JP" dirty="0"/>
              <a:t>Tailwind CSS</a:t>
            </a:r>
            <a:r>
              <a:rPr lang="ja-JP" altLang="en-US" dirty="0"/>
              <a:t>でレスポンシブなデザインをスピーディーに構築しています。」</a:t>
            </a:r>
            <a:endParaRPr lang="en-US" altLang="ja-JP" b="1" dirty="0"/>
          </a:p>
          <a:p>
            <a:r>
              <a:rPr lang="ja-JP" altLang="en-US" dirty="0"/>
              <a:t>「</a:t>
            </a:r>
            <a:r>
              <a:rPr lang="en-US" altLang="ja-JP" dirty="0"/>
              <a:t>Laravel Sail</a:t>
            </a:r>
            <a:r>
              <a:rPr lang="ja-JP" altLang="en-US" dirty="0"/>
              <a:t>を利用して、</a:t>
            </a:r>
            <a:r>
              <a:rPr lang="en-US" altLang="ja-JP" dirty="0"/>
              <a:t>PHP</a:t>
            </a:r>
            <a:r>
              <a:rPr lang="ja-JP" altLang="en-US" dirty="0" err="1"/>
              <a:t>、</a:t>
            </a:r>
            <a:r>
              <a:rPr lang="en-US" altLang="ja-JP" dirty="0"/>
              <a:t>MySQL</a:t>
            </a:r>
            <a:r>
              <a:rPr lang="ja-JP" altLang="en-US" dirty="0" err="1"/>
              <a:t>、</a:t>
            </a:r>
            <a:r>
              <a:rPr lang="en-US" altLang="ja-JP" dirty="0"/>
              <a:t>phpMyAdmin</a:t>
            </a:r>
            <a:r>
              <a:rPr lang="ja-JP" altLang="en-US" dirty="0"/>
              <a:t>を</a:t>
            </a:r>
            <a:r>
              <a:rPr lang="en-US" altLang="ja-JP" dirty="0"/>
              <a:t>Docker</a:t>
            </a:r>
            <a:r>
              <a:rPr lang="ja-JP" altLang="en-US" dirty="0"/>
              <a:t>コンテナとして構築しました。ローカル</a:t>
            </a:r>
            <a:r>
              <a:rPr lang="en-US" altLang="ja-JP" dirty="0"/>
              <a:t>PC</a:t>
            </a:r>
            <a:r>
              <a:rPr lang="ja-JP" altLang="en-US" dirty="0"/>
              <a:t>の環境依存（</a:t>
            </a:r>
            <a:r>
              <a:rPr lang="en-US" altLang="ja-JP" dirty="0"/>
              <a:t>OS</a:t>
            </a:r>
            <a:r>
              <a:rPr lang="ja-JP" altLang="en-US" dirty="0"/>
              <a:t>やバージョンの違い）によるエラーを防ぎ、本番環境に近いコンテナ分離環境で安全に開発を進めるためです。」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93DEB-EC08-4401-8415-9B6ABF09783E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26136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93DEB-EC08-4401-8415-9B6ABF09783E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28972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 b="1">
                <a:solidFill>
                  <a:srgbClr val="2B2B2B"/>
                </a:solidFill>
              </a:defRPr>
            </a:pPr>
            <a:r>
              <a:rPr lang="ja-JP" altLang="en-US" dirty="0"/>
              <a:t>🎬 デモの実演手順</a:t>
            </a:r>
          </a:p>
          <a:p>
            <a:pPr>
              <a:defRPr sz="1300">
                <a:solidFill>
                  <a:srgbClr val="464646"/>
                </a:solidFill>
              </a:defRPr>
            </a:pPr>
            <a:r>
              <a:rPr lang="en-US" altLang="ja-JP" dirty="0"/>
              <a:t>1. </a:t>
            </a:r>
            <a:r>
              <a:rPr lang="ja-JP" altLang="en-US" dirty="0"/>
              <a:t>映画詳細ページ（統一された上下レイアウト）</a:t>
            </a:r>
            <a:br>
              <a:rPr lang="ja-JP" altLang="en-US" dirty="0"/>
            </a:br>
            <a:br>
              <a:rPr lang="ja-JP" altLang="en-US" dirty="0"/>
            </a:br>
            <a:r>
              <a:rPr lang="en-US" altLang="ja-JP" dirty="0"/>
              <a:t>2. </a:t>
            </a:r>
            <a:r>
              <a:rPr lang="ja-JP" altLang="en-US" dirty="0"/>
              <a:t>タブ切り替え（鑑賞後 ↔ 鑑賞前）</a:t>
            </a:r>
            <a:br>
              <a:rPr lang="ja-JP" altLang="en-US" dirty="0"/>
            </a:br>
            <a:br>
              <a:rPr lang="ja-JP" altLang="en-US" dirty="0"/>
            </a:br>
            <a:r>
              <a:rPr lang="en-US" altLang="ja-JP" dirty="0"/>
              <a:t>3. </a:t>
            </a:r>
            <a:r>
              <a:rPr lang="ja-JP" altLang="en-US" dirty="0"/>
              <a:t>評価スライダーと気分タグの選択</a:t>
            </a:r>
            <a:br>
              <a:rPr lang="ja-JP" altLang="en-US" dirty="0"/>
            </a:br>
            <a:br>
              <a:rPr lang="ja-JP" altLang="en-US" dirty="0"/>
            </a:br>
            <a:r>
              <a:rPr lang="en-US" altLang="ja-JP" dirty="0"/>
              <a:t>4. </a:t>
            </a:r>
            <a:r>
              <a:rPr lang="ja-JP" altLang="en-US" dirty="0"/>
              <a:t>レビュー投稿および「いいね・コメント」</a:t>
            </a:r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93DEB-EC08-4401-8415-9B6ABF09783E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70268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dirty="0">
                <a:effectLst/>
              </a:rPr>
              <a:t>「画面の見た目（</a:t>
            </a:r>
            <a:r>
              <a:rPr lang="en-US" altLang="ja-JP" dirty="0">
                <a:effectLst/>
              </a:rPr>
              <a:t>UI/UX</a:t>
            </a:r>
            <a:r>
              <a:rPr lang="ja-JP" altLang="en-US" dirty="0">
                <a:effectLst/>
              </a:rPr>
              <a:t>）とデータ構造の連動です。感情タグごとの絞り込みを中間テーブル（多対多）で正確に取得しつつ、フロントエンドでスライダーやタグ切り替えをスムーズに見せる部分の調整にこだわりました。」</a:t>
            </a:r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93DEB-EC08-4401-8415-9B6ABF09783E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84706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79175" y="1293901"/>
            <a:ext cx="8233344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2B2B2B"/>
                </a:solidFill>
              </a:defRPr>
            </a:pPr>
            <a:r>
              <a:rPr sz="7200" dirty="0"/>
              <a:t>🎬  </a:t>
            </a:r>
            <a:r>
              <a:rPr sz="7200" dirty="0" err="1"/>
              <a:t>MovieMood</a:t>
            </a:r>
            <a:r>
              <a:rPr sz="7200" dirty="0"/>
              <a:t>  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120" y="3136612"/>
            <a:ext cx="1062983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2B2B2B"/>
                </a:solidFill>
              </a:defRPr>
            </a:pPr>
            <a:r>
              <a:rPr sz="3200" dirty="0"/>
              <a:t>〜 </a:t>
            </a:r>
            <a:r>
              <a:rPr sz="3200" dirty="0" err="1"/>
              <a:t>あなたの「今の気分」が、次に観る映画を決める</a:t>
            </a:r>
            <a:r>
              <a:rPr sz="3200" dirty="0"/>
              <a:t>。 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86321" y="4429734"/>
            <a:ext cx="3619051" cy="2036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800">
                <a:solidFill>
                  <a:srgbClr val="646464"/>
                </a:solidFill>
              </a:defRPr>
            </a:pPr>
            <a:r>
              <a:rPr dirty="0"/>
              <a:t>Laravel  ×  TMDB API</a:t>
            </a:r>
          </a:p>
          <a:p>
            <a:pPr algn="ctr">
              <a:spcAft>
                <a:spcPts val="2400"/>
              </a:spcAft>
              <a:defRPr sz="1600">
                <a:solidFill>
                  <a:srgbClr val="646464"/>
                </a:solidFill>
              </a:defRPr>
            </a:pPr>
            <a:r>
              <a:rPr dirty="0" err="1"/>
              <a:t>Webアプリ</a:t>
            </a:r>
            <a:r>
              <a:rPr lang="ja-JP" altLang="en-US" dirty="0"/>
              <a:t>開発</a:t>
            </a:r>
            <a:endParaRPr lang="en-US" altLang="ja-JP" dirty="0"/>
          </a:p>
          <a:p>
            <a:pPr algn="ctr">
              <a:spcAft>
                <a:spcPts val="2400"/>
              </a:spcAft>
              <a:defRPr sz="1600">
                <a:solidFill>
                  <a:srgbClr val="646464"/>
                </a:solidFill>
              </a:defRPr>
            </a:pPr>
            <a:endParaRPr dirty="0"/>
          </a:p>
          <a:p>
            <a:pPr algn="ctr">
              <a:defRPr sz="2800" b="1">
                <a:solidFill>
                  <a:srgbClr val="2B2B2B"/>
                </a:solidFill>
              </a:defRPr>
            </a:pPr>
            <a:r>
              <a:rPr dirty="0"/>
              <a:t>安部 夏南子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F1854D6-40F0-4B69-B285-8F667600E44B}"/>
              </a:ext>
            </a:extLst>
          </p:cNvPr>
          <p:cNvSpPr txBox="1"/>
          <p:nvPr/>
        </p:nvSpPr>
        <p:spPr>
          <a:xfrm>
            <a:off x="3898670" y="5333645"/>
            <a:ext cx="70619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chemeClr val="bg1">
                    <a:lumMod val="50000"/>
                  </a:schemeClr>
                </a:solidFill>
              </a:rPr>
              <a:t>https://github.com/ivyc259001abe/MovieMood</a:t>
            </a:r>
          </a:p>
          <a:p>
            <a:endParaRPr kumimoji="1" lang="ja-JP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ounded Rectangle 3">
            <a:extLst>
              <a:ext uri="{FF2B5EF4-FFF2-40B4-BE49-F238E27FC236}">
                <a16:creationId xmlns:a16="http://schemas.microsoft.com/office/drawing/2014/main" id="{68BB2723-CD2B-4787-BED3-D32B92C1137F}"/>
              </a:ext>
            </a:extLst>
          </p:cNvPr>
          <p:cNvSpPr/>
          <p:nvPr/>
        </p:nvSpPr>
        <p:spPr>
          <a:xfrm>
            <a:off x="944881" y="4847909"/>
            <a:ext cx="4846320" cy="151323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3">
            <a:extLst>
              <a:ext uri="{FF2B5EF4-FFF2-40B4-BE49-F238E27FC236}">
                <a16:creationId xmlns:a16="http://schemas.microsoft.com/office/drawing/2014/main" id="{2C4A45DD-40BB-4037-A9C8-5874E72E47EA}"/>
              </a:ext>
            </a:extLst>
          </p:cNvPr>
          <p:cNvSpPr/>
          <p:nvPr/>
        </p:nvSpPr>
        <p:spPr>
          <a:xfrm>
            <a:off x="6383070" y="4873606"/>
            <a:ext cx="4846320" cy="151323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1" name="TextBox 8">
            <a:extLst>
              <a:ext uri="{FF2B5EF4-FFF2-40B4-BE49-F238E27FC236}">
                <a16:creationId xmlns:a16="http://schemas.microsoft.com/office/drawing/2014/main" id="{3DAA2890-8A0F-463A-B9F8-D5564DFF7E69}"/>
              </a:ext>
            </a:extLst>
          </p:cNvPr>
          <p:cNvSpPr txBox="1"/>
          <p:nvPr/>
        </p:nvSpPr>
        <p:spPr>
          <a:xfrm>
            <a:off x="6570661" y="5057205"/>
            <a:ext cx="4389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B2B2B"/>
                </a:solidFill>
              </a:defRPr>
            </a:pPr>
            <a:r>
              <a:rPr lang="en-US" altLang="ja-JP" sz="2800" dirty="0"/>
              <a:t>06.</a:t>
            </a:r>
            <a:r>
              <a:rPr lang="ja-JP" altLang="en-US" sz="2800" dirty="0"/>
              <a:t>まとめ</a:t>
            </a:r>
            <a:endParaRPr sz="2800" dirty="0"/>
          </a:p>
        </p:txBody>
      </p:sp>
      <p:sp>
        <p:nvSpPr>
          <p:cNvPr id="24" name="Rounded Rectangle 3">
            <a:extLst>
              <a:ext uri="{FF2B5EF4-FFF2-40B4-BE49-F238E27FC236}">
                <a16:creationId xmlns:a16="http://schemas.microsoft.com/office/drawing/2014/main" id="{F85AA74B-F0C0-4205-9CA0-1165370EEB92}"/>
              </a:ext>
            </a:extLst>
          </p:cNvPr>
          <p:cNvSpPr/>
          <p:nvPr/>
        </p:nvSpPr>
        <p:spPr>
          <a:xfrm>
            <a:off x="6376418" y="3218845"/>
            <a:ext cx="4846320" cy="151323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3">
            <a:extLst>
              <a:ext uri="{FF2B5EF4-FFF2-40B4-BE49-F238E27FC236}">
                <a16:creationId xmlns:a16="http://schemas.microsoft.com/office/drawing/2014/main" id="{120EC3C4-2173-4183-9AA0-5D0EBEDE35DF}"/>
              </a:ext>
            </a:extLst>
          </p:cNvPr>
          <p:cNvSpPr/>
          <p:nvPr/>
        </p:nvSpPr>
        <p:spPr>
          <a:xfrm>
            <a:off x="6453172" y="1589533"/>
            <a:ext cx="4846320" cy="151323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3">
            <a:extLst>
              <a:ext uri="{FF2B5EF4-FFF2-40B4-BE49-F238E27FC236}">
                <a16:creationId xmlns:a16="http://schemas.microsoft.com/office/drawing/2014/main" id="{7C4D24FA-EABF-42F1-B42A-B69CA769D436}"/>
              </a:ext>
            </a:extLst>
          </p:cNvPr>
          <p:cNvSpPr/>
          <p:nvPr/>
        </p:nvSpPr>
        <p:spPr>
          <a:xfrm>
            <a:off x="941832" y="3174477"/>
            <a:ext cx="4846320" cy="151323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06308" y="350757"/>
            <a:ext cx="5943601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B2B2B"/>
                </a:solidFill>
              </a:defRPr>
            </a:pPr>
            <a:r>
              <a:rPr lang="ja-JP" altLang="en-US" sz="4000" dirty="0"/>
              <a:t>目次　</a:t>
            </a:r>
            <a:r>
              <a:rPr lang="en-US" altLang="ja-JP" sz="4000" dirty="0"/>
              <a:t>– </a:t>
            </a:r>
            <a:r>
              <a:rPr sz="4000" dirty="0"/>
              <a:t>AGENDA</a:t>
            </a:r>
            <a:r>
              <a:rPr lang="en-US" altLang="ja-JP" sz="4000" dirty="0"/>
              <a:t> –</a:t>
            </a:r>
            <a:endParaRPr sz="4000" dirty="0"/>
          </a:p>
          <a:p>
            <a:pPr>
              <a:defRPr sz="1400">
                <a:solidFill>
                  <a:srgbClr val="646464"/>
                </a:solidFill>
              </a:defRPr>
            </a:pPr>
            <a:endParaRPr lang="en-US" altLang="ja-JP" dirty="0"/>
          </a:p>
          <a:p>
            <a:pPr>
              <a:defRPr sz="1400">
                <a:solidFill>
                  <a:srgbClr val="646464"/>
                </a:solidFill>
              </a:defRPr>
            </a:pPr>
            <a:r>
              <a:rPr lang="ja-JP" altLang="en-US" sz="2000" dirty="0"/>
              <a:t>　　</a:t>
            </a:r>
            <a:r>
              <a:rPr sz="2000" dirty="0" err="1"/>
              <a:t>本日の発表内容</a:t>
            </a:r>
            <a:endParaRPr sz="2000" dirty="0"/>
          </a:p>
        </p:txBody>
      </p:sp>
      <p:sp>
        <p:nvSpPr>
          <p:cNvPr id="4" name="Rounded Rectangle 3"/>
          <p:cNvSpPr/>
          <p:nvPr/>
        </p:nvSpPr>
        <p:spPr>
          <a:xfrm>
            <a:off x="883920" y="1563840"/>
            <a:ext cx="4846320" cy="151323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59534" y="1602891"/>
            <a:ext cx="109728" cy="1513235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763192"/>
            <a:ext cx="4389120" cy="959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B2B2B"/>
                </a:solidFill>
              </a:defRPr>
            </a:pPr>
            <a:r>
              <a:rPr sz="2800" dirty="0"/>
              <a:t>01. </a:t>
            </a:r>
            <a:r>
              <a:rPr sz="2800" dirty="0" err="1"/>
              <a:t>開発背景とターゲット</a:t>
            </a:r>
            <a:endParaRPr sz="2800" dirty="0"/>
          </a:p>
          <a:p>
            <a:pPr>
              <a:defRPr sz="1300">
                <a:solidFill>
                  <a:srgbClr val="464646"/>
                </a:solidFill>
              </a:defRPr>
            </a:pPr>
            <a:r>
              <a:rPr lang="ja-JP" altLang="en-US" sz="2000" dirty="0"/>
              <a:t>　</a:t>
            </a:r>
            <a:r>
              <a:rPr sz="2000" dirty="0" err="1"/>
              <a:t>なぜこのアプリを作ったのか</a:t>
            </a:r>
            <a:endParaRPr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1210612" y="3413283"/>
            <a:ext cx="4389120" cy="959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B2B2B"/>
                </a:solidFill>
              </a:defRPr>
            </a:pPr>
            <a:r>
              <a:rPr sz="2800" dirty="0"/>
              <a:t>02. </a:t>
            </a:r>
            <a:r>
              <a:rPr sz="2800" dirty="0" err="1"/>
              <a:t>主な機能と雰囲気タグ</a:t>
            </a:r>
            <a:endParaRPr sz="2800" dirty="0"/>
          </a:p>
          <a:p>
            <a:pPr>
              <a:defRPr sz="1300">
                <a:solidFill>
                  <a:srgbClr val="464646"/>
                </a:solidFill>
              </a:defRPr>
            </a:pPr>
            <a:r>
              <a:rPr lang="ja-JP" altLang="en-US" sz="2000" dirty="0"/>
              <a:t>　</a:t>
            </a:r>
            <a:r>
              <a:rPr sz="2000" dirty="0"/>
              <a:t>直感的に選べる4つの感情タグ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7356" y="5059069"/>
            <a:ext cx="4389120" cy="959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B2B2B"/>
                </a:solidFill>
              </a:defRPr>
            </a:pPr>
            <a:r>
              <a:rPr sz="2800" dirty="0"/>
              <a:t>03</a:t>
            </a:r>
            <a:r>
              <a:rPr lang="en-US" altLang="ja-JP" sz="2800" dirty="0"/>
              <a:t>. </a:t>
            </a:r>
            <a:r>
              <a:rPr lang="ja-JP" altLang="en-US" sz="2800" dirty="0"/>
              <a:t>システム技術構成</a:t>
            </a:r>
          </a:p>
          <a:p>
            <a:pPr>
              <a:defRPr sz="1300">
                <a:solidFill>
                  <a:srgbClr val="464646"/>
                </a:solidFill>
              </a:defRPr>
            </a:pPr>
            <a:r>
              <a:rPr lang="ja-JP" altLang="en-US" sz="2000" dirty="0"/>
              <a:t>　使用言語とフレームワーク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5292" y="1830927"/>
            <a:ext cx="4389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B2B2B"/>
                </a:solidFill>
              </a:defRPr>
            </a:pPr>
            <a:r>
              <a:rPr sz="2800" dirty="0"/>
              <a:t>04</a:t>
            </a:r>
            <a:r>
              <a:rPr lang="en-US" altLang="ja-JP" sz="2800" dirty="0"/>
              <a:t>.</a:t>
            </a:r>
            <a:r>
              <a:rPr lang="ja-JP" altLang="en-US" sz="2800" dirty="0"/>
              <a:t>設計・環境</a:t>
            </a:r>
            <a:endParaRPr sz="2800" dirty="0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8A42B117-58F9-4B47-9568-6E6994C7DB3D}"/>
              </a:ext>
            </a:extLst>
          </p:cNvPr>
          <p:cNvSpPr/>
          <p:nvPr/>
        </p:nvSpPr>
        <p:spPr>
          <a:xfrm>
            <a:off x="301939" y="6400800"/>
            <a:ext cx="886781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050" dirty="0" err="1"/>
              <a:t>MovieMood</a:t>
            </a:r>
            <a:r>
              <a:rPr lang="en-US" altLang="ja-JP" sz="1050" dirty="0"/>
              <a:t> </a:t>
            </a:r>
            <a:endParaRPr lang="ja-JP" altLang="en-US" sz="1050" dirty="0"/>
          </a:p>
        </p:txBody>
      </p:sp>
      <p:sp>
        <p:nvSpPr>
          <p:cNvPr id="19" name="Rectangle 4">
            <a:extLst>
              <a:ext uri="{FF2B5EF4-FFF2-40B4-BE49-F238E27FC236}">
                <a16:creationId xmlns:a16="http://schemas.microsoft.com/office/drawing/2014/main" id="{5003810A-C353-4D4D-A4B7-1B257510A5F8}"/>
              </a:ext>
            </a:extLst>
          </p:cNvPr>
          <p:cNvSpPr/>
          <p:nvPr/>
        </p:nvSpPr>
        <p:spPr>
          <a:xfrm>
            <a:off x="853159" y="3185033"/>
            <a:ext cx="109728" cy="1513235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4">
            <a:extLst>
              <a:ext uri="{FF2B5EF4-FFF2-40B4-BE49-F238E27FC236}">
                <a16:creationId xmlns:a16="http://schemas.microsoft.com/office/drawing/2014/main" id="{A94EFE02-497F-4812-A1BE-63CA15189C82}"/>
              </a:ext>
            </a:extLst>
          </p:cNvPr>
          <p:cNvSpPr/>
          <p:nvPr/>
        </p:nvSpPr>
        <p:spPr>
          <a:xfrm>
            <a:off x="6321554" y="1645573"/>
            <a:ext cx="109728" cy="1513235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8">
            <a:extLst>
              <a:ext uri="{FF2B5EF4-FFF2-40B4-BE49-F238E27FC236}">
                <a16:creationId xmlns:a16="http://schemas.microsoft.com/office/drawing/2014/main" id="{6619392F-2431-4D92-88BC-4558A99B1021}"/>
              </a:ext>
            </a:extLst>
          </p:cNvPr>
          <p:cNvSpPr txBox="1"/>
          <p:nvPr/>
        </p:nvSpPr>
        <p:spPr>
          <a:xfrm>
            <a:off x="6454699" y="5564872"/>
            <a:ext cx="4389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64646"/>
                </a:solidFill>
              </a:defRPr>
            </a:pPr>
            <a:r>
              <a:rPr lang="ja-JP" altLang="en-US" sz="2000" dirty="0"/>
              <a:t>　全体通して</a:t>
            </a:r>
          </a:p>
        </p:txBody>
      </p:sp>
      <p:sp>
        <p:nvSpPr>
          <p:cNvPr id="26" name="Rectangle 4">
            <a:extLst>
              <a:ext uri="{FF2B5EF4-FFF2-40B4-BE49-F238E27FC236}">
                <a16:creationId xmlns:a16="http://schemas.microsoft.com/office/drawing/2014/main" id="{4EA8A0AA-C337-4479-9C28-42400F7C1455}"/>
              </a:ext>
            </a:extLst>
          </p:cNvPr>
          <p:cNvSpPr/>
          <p:nvPr/>
        </p:nvSpPr>
        <p:spPr>
          <a:xfrm>
            <a:off x="6314352" y="3268644"/>
            <a:ext cx="109728" cy="1513235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8">
            <a:extLst>
              <a:ext uri="{FF2B5EF4-FFF2-40B4-BE49-F238E27FC236}">
                <a16:creationId xmlns:a16="http://schemas.microsoft.com/office/drawing/2014/main" id="{706B6F07-9257-4976-A5A9-7CC3BE005881}"/>
              </a:ext>
            </a:extLst>
          </p:cNvPr>
          <p:cNvSpPr txBox="1"/>
          <p:nvPr/>
        </p:nvSpPr>
        <p:spPr>
          <a:xfrm>
            <a:off x="6562077" y="3374677"/>
            <a:ext cx="4389120" cy="1082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B2B2B"/>
                </a:solidFill>
              </a:defRPr>
            </a:pPr>
            <a:r>
              <a:rPr sz="2800" dirty="0"/>
              <a:t>0</a:t>
            </a:r>
            <a:r>
              <a:rPr lang="en-US" altLang="ja-JP" sz="2800" dirty="0"/>
              <a:t>5</a:t>
            </a:r>
            <a:r>
              <a:rPr sz="2800" dirty="0"/>
              <a:t>. </a:t>
            </a:r>
            <a:r>
              <a:rPr lang="ja-JP" altLang="en-US" sz="2800" dirty="0"/>
              <a:t>デモ</a:t>
            </a:r>
            <a:endParaRPr lang="en-US" altLang="ja-JP" sz="2800" dirty="0"/>
          </a:p>
          <a:p>
            <a:pPr>
              <a:spcAft>
                <a:spcPts val="1000"/>
              </a:spcAft>
              <a:defRPr sz="1800" b="1">
                <a:solidFill>
                  <a:srgbClr val="2B2B2B"/>
                </a:solidFill>
              </a:defRPr>
            </a:pPr>
            <a:endParaRPr sz="2800" dirty="0"/>
          </a:p>
        </p:txBody>
      </p:sp>
      <p:sp>
        <p:nvSpPr>
          <p:cNvPr id="29" name="Rectangle 4">
            <a:extLst>
              <a:ext uri="{FF2B5EF4-FFF2-40B4-BE49-F238E27FC236}">
                <a16:creationId xmlns:a16="http://schemas.microsoft.com/office/drawing/2014/main" id="{A9090CA5-833F-45DE-8150-0472BA3CF147}"/>
              </a:ext>
            </a:extLst>
          </p:cNvPr>
          <p:cNvSpPr/>
          <p:nvPr/>
        </p:nvSpPr>
        <p:spPr>
          <a:xfrm>
            <a:off x="859534" y="4827369"/>
            <a:ext cx="109728" cy="1513235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4">
            <a:extLst>
              <a:ext uri="{FF2B5EF4-FFF2-40B4-BE49-F238E27FC236}">
                <a16:creationId xmlns:a16="http://schemas.microsoft.com/office/drawing/2014/main" id="{0D11799E-C94C-4355-8983-8FD5D6DF157D}"/>
              </a:ext>
            </a:extLst>
          </p:cNvPr>
          <p:cNvSpPr/>
          <p:nvPr/>
        </p:nvSpPr>
        <p:spPr>
          <a:xfrm>
            <a:off x="6303822" y="4891715"/>
            <a:ext cx="109728" cy="1513235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8">
            <a:extLst>
              <a:ext uri="{FF2B5EF4-FFF2-40B4-BE49-F238E27FC236}">
                <a16:creationId xmlns:a16="http://schemas.microsoft.com/office/drawing/2014/main" id="{74A505BE-002B-490F-B201-F9E631F97C20}"/>
              </a:ext>
            </a:extLst>
          </p:cNvPr>
          <p:cNvSpPr txBox="1"/>
          <p:nvPr/>
        </p:nvSpPr>
        <p:spPr>
          <a:xfrm>
            <a:off x="6910372" y="3975462"/>
            <a:ext cx="4389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64646"/>
                </a:solidFill>
              </a:defRPr>
            </a:pPr>
            <a:r>
              <a:rPr lang="ja-JP" altLang="en-US" sz="2000" dirty="0"/>
              <a:t>実演</a:t>
            </a:r>
          </a:p>
        </p:txBody>
      </p:sp>
      <p:sp>
        <p:nvSpPr>
          <p:cNvPr id="34" name="TextBox 8">
            <a:extLst>
              <a:ext uri="{FF2B5EF4-FFF2-40B4-BE49-F238E27FC236}">
                <a16:creationId xmlns:a16="http://schemas.microsoft.com/office/drawing/2014/main" id="{5AAFB476-750B-4BCB-A4F9-C56E93602C53}"/>
              </a:ext>
            </a:extLst>
          </p:cNvPr>
          <p:cNvSpPr txBox="1"/>
          <p:nvPr/>
        </p:nvSpPr>
        <p:spPr>
          <a:xfrm>
            <a:off x="6649909" y="2396204"/>
            <a:ext cx="4389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64646"/>
                </a:solidFill>
              </a:defRPr>
            </a:pPr>
            <a:r>
              <a:rPr lang="ja-JP" altLang="en-US" sz="2000" dirty="0"/>
              <a:t>　開発環境</a:t>
            </a: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C5E0A335-8612-4916-AD8C-FF702EEF9575}"/>
              </a:ext>
            </a:extLst>
          </p:cNvPr>
          <p:cNvSpPr/>
          <p:nvPr/>
        </p:nvSpPr>
        <p:spPr>
          <a:xfrm>
            <a:off x="9209930" y="4754377"/>
            <a:ext cx="1829099" cy="1620583"/>
          </a:xfrm>
          <a:prstGeom prst="ellipse">
            <a:avLst/>
          </a:prstGeom>
          <a:solidFill>
            <a:srgbClr val="FFCC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chemeClr val="tx1"/>
                </a:solidFill>
              </a:rPr>
              <a:t>質疑応答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639248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B2B2B"/>
                </a:solidFill>
              </a:defRPr>
            </a:pPr>
            <a:r>
              <a:rPr lang="en-US" altLang="ja-JP" sz="4000" dirty="0"/>
              <a:t>01.</a:t>
            </a:r>
            <a:r>
              <a:rPr sz="4000" dirty="0"/>
              <a:t>開発背景とターゲット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rPr lang="ja-JP" altLang="en-US" sz="2000" dirty="0"/>
              <a:t>　　</a:t>
            </a:r>
            <a:r>
              <a:rPr sz="2000" dirty="0" err="1"/>
              <a:t>既存サービスで感じていた課題と解決</a:t>
            </a:r>
            <a:endParaRPr sz="2000" dirty="0"/>
          </a:p>
        </p:txBody>
      </p:sp>
      <p:sp>
        <p:nvSpPr>
          <p:cNvPr id="4" name="Rounded Rectangle 3"/>
          <p:cNvSpPr/>
          <p:nvPr/>
        </p:nvSpPr>
        <p:spPr>
          <a:xfrm>
            <a:off x="914399" y="1645920"/>
            <a:ext cx="4876801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109728" cy="438912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1828800"/>
            <a:ext cx="4505498" cy="3667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B2B2B"/>
                </a:solidFill>
              </a:defRPr>
            </a:pPr>
            <a:r>
              <a:rPr sz="2800" dirty="0"/>
              <a:t>💡 </a:t>
            </a:r>
            <a:r>
              <a:rPr sz="2800" dirty="0" err="1"/>
              <a:t>課題・背景</a:t>
            </a:r>
            <a:endParaRPr sz="2800" dirty="0"/>
          </a:p>
          <a:p>
            <a:pPr>
              <a:defRPr sz="1300">
                <a:solidFill>
                  <a:srgbClr val="464646"/>
                </a:solidFill>
              </a:defRPr>
            </a:pPr>
            <a:r>
              <a:rPr sz="2800" dirty="0" err="1"/>
              <a:t>従来のレビューサイトは</a:t>
            </a:r>
            <a:endParaRPr lang="en-US" altLang="ja-JP" sz="2800" dirty="0"/>
          </a:p>
          <a:p>
            <a:pPr>
              <a:defRPr sz="1300">
                <a:solidFill>
                  <a:srgbClr val="464646"/>
                </a:solidFill>
              </a:defRPr>
            </a:pPr>
            <a:r>
              <a:rPr sz="2800" dirty="0"/>
              <a:t>「</a:t>
            </a:r>
            <a:r>
              <a:rPr sz="2800" dirty="0" err="1"/>
              <a:t>観た後」の評価が中心</a:t>
            </a:r>
            <a:r>
              <a:rPr sz="2800" dirty="0"/>
              <a:t>。</a:t>
            </a:r>
            <a:br>
              <a:rPr sz="2800" dirty="0"/>
            </a:br>
            <a:br>
              <a:rPr sz="2800" dirty="0"/>
            </a:br>
            <a:r>
              <a:rPr sz="2800" dirty="0"/>
              <a:t>「</a:t>
            </a:r>
            <a:r>
              <a:rPr sz="2800" dirty="0" err="1"/>
              <a:t>観る前のワクワク感や理由」をネタバレなしでメモしておきたいニーズに応えるため開発しました</a:t>
            </a:r>
            <a:r>
              <a:rPr sz="2800" dirty="0"/>
              <a:t>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484632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0" y="1645920"/>
            <a:ext cx="109728" cy="43891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1828800"/>
            <a:ext cx="4389120" cy="4098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B2B2B"/>
                </a:solidFill>
              </a:defRPr>
            </a:pPr>
            <a:r>
              <a:rPr sz="2800" dirty="0"/>
              <a:t>🎯 </a:t>
            </a:r>
            <a:r>
              <a:rPr sz="2800" dirty="0" err="1"/>
              <a:t>ターゲット層</a:t>
            </a:r>
            <a:endParaRPr sz="2800" dirty="0"/>
          </a:p>
          <a:p>
            <a:pPr>
              <a:defRPr sz="1300">
                <a:solidFill>
                  <a:srgbClr val="464646"/>
                </a:solidFill>
              </a:defRPr>
            </a:pPr>
            <a:r>
              <a:rPr sz="2800" dirty="0"/>
              <a:t>・</a:t>
            </a:r>
            <a:r>
              <a:rPr sz="2800" dirty="0" err="1"/>
              <a:t>映画鑑賞が趣味の人</a:t>
            </a:r>
            <a:br>
              <a:rPr sz="2800" dirty="0"/>
            </a:br>
            <a:br>
              <a:rPr sz="2800" dirty="0"/>
            </a:br>
            <a:r>
              <a:rPr sz="2800" dirty="0"/>
              <a:t>・</a:t>
            </a:r>
            <a:r>
              <a:rPr sz="2800" dirty="0" err="1"/>
              <a:t>次に観る映画候補を期待度と一緒にメモしておきたい人</a:t>
            </a:r>
            <a:br>
              <a:rPr sz="2800" dirty="0"/>
            </a:br>
            <a:br>
              <a:rPr sz="2800" dirty="0"/>
            </a:br>
            <a:r>
              <a:rPr sz="2800" dirty="0"/>
              <a:t>・</a:t>
            </a:r>
            <a:r>
              <a:rPr sz="2800" dirty="0" err="1"/>
              <a:t>映画好き同士で感想を共有したい人</a:t>
            </a:r>
            <a:endParaRPr sz="2800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99A7D9F-BD82-4745-A289-6426F6C572AE}"/>
              </a:ext>
            </a:extLst>
          </p:cNvPr>
          <p:cNvSpPr/>
          <p:nvPr/>
        </p:nvSpPr>
        <p:spPr>
          <a:xfrm>
            <a:off x="301939" y="6400800"/>
            <a:ext cx="886781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050" dirty="0" err="1"/>
              <a:t>MovieMood</a:t>
            </a:r>
            <a:r>
              <a:rPr lang="en-US" altLang="ja-JP" sz="1050" dirty="0"/>
              <a:t> </a:t>
            </a:r>
            <a:endParaRPr lang="ja-JP" alt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53476" y="452735"/>
            <a:ext cx="640080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B2B2B"/>
                </a:solidFill>
              </a:defRPr>
            </a:pPr>
            <a:r>
              <a:rPr lang="en-US" altLang="ja-JP" sz="4000" dirty="0"/>
              <a:t>02.</a:t>
            </a:r>
            <a:r>
              <a:rPr sz="4000" dirty="0"/>
              <a:t>主な機能と雰囲気タグ</a:t>
            </a:r>
            <a:endParaRPr lang="ja-JP" altLang="en-US" sz="4000" dirty="0"/>
          </a:p>
          <a:p>
            <a:pPr>
              <a:defRPr sz="1400">
                <a:solidFill>
                  <a:srgbClr val="646464"/>
                </a:solidFill>
              </a:defRPr>
            </a:pPr>
            <a:r>
              <a:rPr lang="ja-JP" altLang="en-US" sz="2000" dirty="0"/>
              <a:t>　　直感的な感情体験で繋がる</a:t>
            </a:r>
            <a:r>
              <a:rPr lang="en-US" altLang="ja-JP" sz="2000" dirty="0"/>
              <a:t>4</a:t>
            </a:r>
            <a:r>
              <a:rPr lang="ja-JP" altLang="en-US" sz="2000" dirty="0" err="1"/>
              <a:t>つの</a:t>
            </a:r>
            <a:r>
              <a:rPr lang="ja-JP" altLang="en-US" sz="2000" dirty="0"/>
              <a:t>タグ選定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92126"/>
            <a:ext cx="5071872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109728" cy="438912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1828800"/>
            <a:ext cx="4389120" cy="3452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B2B2B"/>
                </a:solidFill>
              </a:defRPr>
            </a:pPr>
            <a:r>
              <a:rPr sz="2800" dirty="0"/>
              <a:t>🎬 </a:t>
            </a:r>
            <a:r>
              <a:rPr sz="2800" dirty="0" err="1"/>
              <a:t>機能のポイント</a:t>
            </a:r>
            <a:endParaRPr sz="2800" dirty="0"/>
          </a:p>
          <a:p>
            <a:pPr>
              <a:defRPr sz="1300">
                <a:solidFill>
                  <a:srgbClr val="464646"/>
                </a:solidFill>
              </a:defRPr>
            </a:pPr>
            <a:endParaRPr lang="en-US" altLang="ja-JP" sz="2600" dirty="0"/>
          </a:p>
          <a:p>
            <a:pPr>
              <a:defRPr sz="1300">
                <a:solidFill>
                  <a:srgbClr val="464646"/>
                </a:solidFill>
              </a:defRPr>
            </a:pPr>
            <a:r>
              <a:rPr sz="2600" dirty="0"/>
              <a:t>・TMDB </a:t>
            </a:r>
            <a:r>
              <a:rPr sz="2600" dirty="0" err="1"/>
              <a:t>APIによる映画情報自動取得</a:t>
            </a:r>
            <a:br>
              <a:rPr sz="2600" dirty="0"/>
            </a:br>
            <a:r>
              <a:rPr sz="2600" dirty="0"/>
              <a:t>・「</a:t>
            </a:r>
            <a:r>
              <a:rPr sz="2600" dirty="0" err="1"/>
              <a:t>鑑賞前</a:t>
            </a:r>
            <a:r>
              <a:rPr sz="2600" dirty="0"/>
              <a:t> / </a:t>
            </a:r>
            <a:r>
              <a:rPr sz="2600" dirty="0" err="1"/>
              <a:t>鑑賞後」のワンタッチ切替</a:t>
            </a:r>
            <a:br>
              <a:rPr sz="2600" dirty="0"/>
            </a:br>
            <a:r>
              <a:rPr sz="2600" dirty="0"/>
              <a:t>・「</a:t>
            </a:r>
            <a:r>
              <a:rPr sz="2600" dirty="0" err="1"/>
              <a:t>みたい</a:t>
            </a:r>
            <a:r>
              <a:rPr sz="2600" dirty="0"/>
              <a:t>！」</a:t>
            </a:r>
            <a:r>
              <a:rPr sz="2600" dirty="0" err="1"/>
              <a:t>登録＆いいね・コメント機能</a:t>
            </a:r>
            <a:endParaRPr sz="2600" dirty="0"/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484632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0" y="1645920"/>
            <a:ext cx="109728" cy="43891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1828800"/>
            <a:ext cx="4986528" cy="42524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B2B2B"/>
                </a:solidFill>
              </a:defRPr>
            </a:pPr>
            <a:r>
              <a:rPr sz="2800" dirty="0"/>
              <a:t>🏷️ 4つの感情タグ</a:t>
            </a:r>
          </a:p>
          <a:p>
            <a:pPr>
              <a:defRPr sz="1300">
                <a:solidFill>
                  <a:srgbClr val="464646"/>
                </a:solidFill>
              </a:defRPr>
            </a:pPr>
            <a:endParaRPr lang="en-US" altLang="ja-JP" sz="2600" dirty="0"/>
          </a:p>
          <a:p>
            <a:pPr>
              <a:defRPr sz="1300">
                <a:solidFill>
                  <a:srgbClr val="464646"/>
                </a:solidFill>
              </a:defRPr>
            </a:pPr>
            <a:r>
              <a:rPr sz="2600" dirty="0"/>
              <a:t>・#</a:t>
            </a:r>
            <a:r>
              <a:rPr sz="2600" dirty="0" err="1"/>
              <a:t>号泣</a:t>
            </a:r>
            <a:r>
              <a:rPr sz="2600" dirty="0"/>
              <a:t> ：</a:t>
            </a:r>
            <a:r>
              <a:rPr sz="2600" dirty="0" err="1"/>
              <a:t>ヒューマンドラマ</a:t>
            </a:r>
            <a:r>
              <a:rPr sz="2600" dirty="0"/>
              <a:t>・</a:t>
            </a:r>
            <a:r>
              <a:rPr lang="en-US" altLang="ja-JP" sz="2600" dirty="0"/>
              <a:t>  </a:t>
            </a:r>
          </a:p>
          <a:p>
            <a:pPr>
              <a:defRPr sz="1300">
                <a:solidFill>
                  <a:srgbClr val="464646"/>
                </a:solidFill>
              </a:defRPr>
            </a:pPr>
            <a:r>
              <a:rPr lang="en-US" altLang="ja-JP" sz="2600" dirty="0"/>
              <a:t>                     </a:t>
            </a:r>
            <a:r>
              <a:rPr sz="2600" dirty="0" err="1"/>
              <a:t>恋愛の</a:t>
            </a:r>
            <a:r>
              <a:rPr lang="ja-JP" altLang="en-US" sz="2600" dirty="0"/>
              <a:t>感動展開</a:t>
            </a:r>
            <a:br>
              <a:rPr lang="ja-JP" altLang="en-US" sz="2600" dirty="0"/>
            </a:br>
            <a:r>
              <a:rPr lang="ja-JP" altLang="en-US" sz="2600" dirty="0"/>
              <a:t> ・</a:t>
            </a:r>
            <a:r>
              <a:rPr lang="en-US" altLang="ja-JP" sz="2600" dirty="0"/>
              <a:t>#</a:t>
            </a:r>
            <a:r>
              <a:rPr lang="ja-JP" altLang="en-US" sz="2600" dirty="0"/>
              <a:t>スカッと ：アクション・復讐劇 </a:t>
            </a:r>
            <a:endParaRPr lang="en-US" altLang="ja-JP" sz="2600" dirty="0"/>
          </a:p>
          <a:p>
            <a:pPr>
              <a:defRPr sz="1300">
                <a:solidFill>
                  <a:srgbClr val="464646"/>
                </a:solidFill>
              </a:defRPr>
            </a:pPr>
            <a:r>
              <a:rPr lang="en-US" altLang="ja-JP" sz="2600" dirty="0"/>
              <a:t>                      </a:t>
            </a:r>
            <a:r>
              <a:rPr lang="ja-JP" altLang="en-US" sz="2600" dirty="0" err="1"/>
              <a:t>の爽</a:t>
            </a:r>
            <a:r>
              <a:rPr lang="ja-JP" altLang="en-US" sz="2600" dirty="0"/>
              <a:t>快感</a:t>
            </a:r>
            <a:br>
              <a:rPr lang="ja-JP" altLang="en-US" sz="2600" dirty="0"/>
            </a:br>
            <a:r>
              <a:rPr lang="ja-JP" altLang="en-US" sz="2600" dirty="0"/>
              <a:t> ・</a:t>
            </a:r>
            <a:r>
              <a:rPr lang="en-US" altLang="ja-JP" sz="2600" dirty="0"/>
              <a:t>#</a:t>
            </a:r>
            <a:r>
              <a:rPr lang="ja-JP" altLang="en-US" sz="2600" dirty="0"/>
              <a:t>ハラハラ ：スリラー・サバイ </a:t>
            </a:r>
            <a:endParaRPr lang="en-US" altLang="ja-JP" sz="2600" dirty="0"/>
          </a:p>
          <a:p>
            <a:pPr>
              <a:defRPr sz="1300">
                <a:solidFill>
                  <a:srgbClr val="464646"/>
                </a:solidFill>
              </a:defRPr>
            </a:pPr>
            <a:r>
              <a:rPr lang="en-US" altLang="ja-JP" sz="2600" dirty="0"/>
              <a:t>                        </a:t>
            </a:r>
            <a:r>
              <a:rPr lang="ja-JP" altLang="en-US" sz="2600" dirty="0"/>
              <a:t>バル</a:t>
            </a:r>
            <a:r>
              <a:rPr sz="2600" dirty="0" err="1"/>
              <a:t>の緊張感</a:t>
            </a:r>
            <a:br>
              <a:rPr sz="2600" dirty="0"/>
            </a:br>
            <a:r>
              <a:rPr sz="2600" dirty="0"/>
              <a:t>・#</a:t>
            </a:r>
            <a:r>
              <a:rPr sz="2600" dirty="0" err="1"/>
              <a:t>キュン</a:t>
            </a:r>
            <a:r>
              <a:rPr sz="2600" dirty="0"/>
              <a:t> ：</a:t>
            </a:r>
            <a:r>
              <a:rPr sz="2600" dirty="0" err="1"/>
              <a:t>青春・ロマコメ</a:t>
            </a:r>
            <a:endParaRPr lang="en-US" altLang="ja-JP" sz="2600" dirty="0"/>
          </a:p>
          <a:p>
            <a:pPr>
              <a:defRPr sz="1300">
                <a:solidFill>
                  <a:srgbClr val="464646"/>
                </a:solidFill>
              </a:defRPr>
            </a:pPr>
            <a:r>
              <a:rPr lang="en-US" altLang="ja-JP" sz="2600" dirty="0"/>
              <a:t>                          </a:t>
            </a:r>
            <a:r>
              <a:rPr sz="2600" dirty="0" err="1"/>
              <a:t>のときめき</a:t>
            </a:r>
            <a:endParaRPr sz="2600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0B3AAD86-6B24-42B7-8C27-B538F16A81AD}"/>
              </a:ext>
            </a:extLst>
          </p:cNvPr>
          <p:cNvSpPr/>
          <p:nvPr/>
        </p:nvSpPr>
        <p:spPr>
          <a:xfrm>
            <a:off x="301939" y="6400800"/>
            <a:ext cx="886781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050" dirty="0" err="1"/>
              <a:t>MovieMood</a:t>
            </a:r>
            <a:r>
              <a:rPr lang="en-US" altLang="ja-JP" sz="1050" dirty="0"/>
              <a:t> </a:t>
            </a:r>
            <a:endParaRPr lang="ja-JP" alt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AA5D0890-5D79-42A2-BD0C-78E92B91321A}"/>
              </a:ext>
            </a:extLst>
          </p:cNvPr>
          <p:cNvSpPr/>
          <p:nvPr/>
        </p:nvSpPr>
        <p:spPr>
          <a:xfrm>
            <a:off x="6510528" y="1645920"/>
            <a:ext cx="4876801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6433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B2B2B"/>
                </a:solidFill>
              </a:defRPr>
            </a:pPr>
            <a:r>
              <a:rPr lang="en-US" altLang="ja-JP" sz="4000" dirty="0"/>
              <a:t>03.</a:t>
            </a:r>
            <a:r>
              <a:rPr sz="4000" dirty="0"/>
              <a:t>システム技術構成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rPr lang="ja-JP" altLang="en-US" sz="2000" dirty="0"/>
              <a:t>　　</a:t>
            </a:r>
            <a:r>
              <a:rPr sz="2000" dirty="0" err="1"/>
              <a:t>使用している技術スタックとフロントエンドの工夫</a:t>
            </a:r>
            <a:endParaRPr sz="2000" dirty="0"/>
          </a:p>
        </p:txBody>
      </p:sp>
      <p:sp>
        <p:nvSpPr>
          <p:cNvPr id="4" name="Rounded Rectangle 3"/>
          <p:cNvSpPr/>
          <p:nvPr/>
        </p:nvSpPr>
        <p:spPr>
          <a:xfrm>
            <a:off x="1127760" y="1664920"/>
            <a:ext cx="4876801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90600" y="1920240"/>
            <a:ext cx="109728" cy="43891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52518" y="1920240"/>
            <a:ext cx="4916635" cy="4160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B2B2B"/>
                </a:solidFill>
              </a:defRPr>
            </a:pPr>
            <a:r>
              <a:rPr sz="3200" dirty="0"/>
              <a:t>🛠️ </a:t>
            </a:r>
            <a:r>
              <a:rPr sz="3200" dirty="0" err="1"/>
              <a:t>技術スタック</a:t>
            </a:r>
            <a:endParaRPr sz="3200" dirty="0"/>
          </a:p>
          <a:p>
            <a:pPr>
              <a:defRPr sz="1300">
                <a:solidFill>
                  <a:srgbClr val="464646"/>
                </a:solidFill>
              </a:defRPr>
            </a:pPr>
            <a:r>
              <a:rPr sz="2800" dirty="0"/>
              <a:t>・</a:t>
            </a:r>
            <a:r>
              <a:rPr sz="2800" b="1" dirty="0" err="1"/>
              <a:t>バックエンド</a:t>
            </a:r>
            <a:r>
              <a:rPr sz="2800" dirty="0"/>
              <a:t>: PHP 8.x / </a:t>
            </a:r>
            <a:endParaRPr lang="en-US" altLang="ja-JP" sz="2800" dirty="0"/>
          </a:p>
          <a:p>
            <a:pPr>
              <a:defRPr sz="1300">
                <a:solidFill>
                  <a:srgbClr val="464646"/>
                </a:solidFill>
              </a:defRPr>
            </a:pPr>
            <a:r>
              <a:rPr lang="ja-JP" altLang="en-US" sz="2800" dirty="0"/>
              <a:t>　　</a:t>
            </a:r>
            <a:r>
              <a:rPr lang="en-US" altLang="ja-JP" sz="2800" dirty="0"/>
              <a:t>                            </a:t>
            </a:r>
            <a:r>
              <a:rPr sz="2800" dirty="0"/>
              <a:t>Laravel</a:t>
            </a:r>
            <a:br>
              <a:rPr sz="2800" dirty="0"/>
            </a:br>
            <a:r>
              <a:rPr sz="2800" dirty="0"/>
              <a:t>・</a:t>
            </a:r>
            <a:r>
              <a:rPr sz="2800" b="1" dirty="0" err="1"/>
              <a:t>フロントエンド</a:t>
            </a:r>
            <a:r>
              <a:rPr sz="2800" dirty="0"/>
              <a:t>: Blade / </a:t>
            </a:r>
            <a:endParaRPr lang="en-US" altLang="ja-JP" sz="2800" dirty="0"/>
          </a:p>
          <a:p>
            <a:pPr>
              <a:defRPr sz="1300">
                <a:solidFill>
                  <a:srgbClr val="464646"/>
                </a:solidFill>
              </a:defRPr>
            </a:pPr>
            <a:r>
              <a:rPr lang="ja-JP" altLang="en-US" sz="2800" dirty="0"/>
              <a:t>　　</a:t>
            </a:r>
            <a:r>
              <a:rPr sz="2800" dirty="0"/>
              <a:t>Vanilla JS / Tailwind CSS</a:t>
            </a:r>
            <a:br>
              <a:rPr sz="2800" dirty="0"/>
            </a:br>
            <a:r>
              <a:rPr sz="2800" dirty="0"/>
              <a:t>・</a:t>
            </a:r>
            <a:r>
              <a:rPr sz="2800" b="1" dirty="0" err="1"/>
              <a:t>外部API</a:t>
            </a:r>
            <a:r>
              <a:rPr sz="2800" dirty="0"/>
              <a:t>: TMDB API</a:t>
            </a:r>
            <a:br>
              <a:rPr sz="2800" dirty="0"/>
            </a:br>
            <a:r>
              <a:rPr sz="2800" dirty="0"/>
              <a:t>・</a:t>
            </a:r>
            <a:r>
              <a:rPr sz="2800" b="1" dirty="0"/>
              <a:t>DB:</a:t>
            </a:r>
            <a:r>
              <a:rPr sz="2800" dirty="0"/>
              <a:t> MySQL</a:t>
            </a:r>
            <a:endParaRPr lang="en-US" altLang="ja-JP" sz="2800" dirty="0"/>
          </a:p>
          <a:p>
            <a:pPr>
              <a:defRPr sz="1300">
                <a:solidFill>
                  <a:srgbClr val="464646"/>
                </a:solidFill>
              </a:defRPr>
            </a:pPr>
            <a:r>
              <a:rPr lang="ja-JP" altLang="en-US" sz="2800" dirty="0"/>
              <a:t> ・</a:t>
            </a:r>
            <a:r>
              <a:rPr lang="ja-JP" altLang="en-US" sz="2800" b="1" dirty="0">
                <a:solidFill>
                  <a:srgbClr val="464646"/>
                </a:solidFill>
              </a:rPr>
              <a:t>バージョン管理 </a:t>
            </a:r>
            <a:r>
              <a:rPr lang="en-US" altLang="ja-JP" sz="2800" b="1" dirty="0">
                <a:solidFill>
                  <a:srgbClr val="464646"/>
                </a:solidFill>
              </a:rPr>
              <a:t>/ </a:t>
            </a:r>
            <a:r>
              <a:rPr lang="ja-JP" altLang="en-US" sz="2800" b="1" dirty="0">
                <a:solidFill>
                  <a:srgbClr val="464646"/>
                </a:solidFill>
              </a:rPr>
              <a:t>インフラ</a:t>
            </a:r>
            <a:r>
              <a:rPr lang="en-US" altLang="ja-JP" sz="2800" dirty="0">
                <a:solidFill>
                  <a:srgbClr val="464646"/>
                </a:solidFill>
              </a:rPr>
              <a:t>:</a:t>
            </a:r>
            <a:r>
              <a:rPr lang="ja-JP" altLang="en-US" sz="2800" dirty="0">
                <a:solidFill>
                  <a:srgbClr val="464646"/>
                </a:solidFill>
              </a:rPr>
              <a:t> </a:t>
            </a:r>
            <a:r>
              <a:rPr lang="ja-JP" altLang="en-US" sz="2800" dirty="0"/>
              <a:t>  </a:t>
            </a:r>
            <a:endParaRPr lang="en-US" altLang="ja-JP" sz="2800" dirty="0"/>
          </a:p>
          <a:p>
            <a:pPr>
              <a:defRPr sz="1300">
                <a:solidFill>
                  <a:srgbClr val="464646"/>
                </a:solidFill>
              </a:defRPr>
            </a:pPr>
            <a:r>
              <a:rPr lang="en-US" altLang="ja-JP" sz="2800" dirty="0">
                <a:solidFill>
                  <a:srgbClr val="464646"/>
                </a:solidFill>
              </a:rPr>
              <a:t>      Git</a:t>
            </a:r>
            <a:r>
              <a:rPr lang="ja-JP" altLang="en-US" sz="2800" dirty="0">
                <a:solidFill>
                  <a:srgbClr val="464646"/>
                </a:solidFill>
              </a:rPr>
              <a:t>・</a:t>
            </a:r>
            <a:r>
              <a:rPr lang="en-US" altLang="ja-JP" sz="2800" dirty="0">
                <a:solidFill>
                  <a:srgbClr val="464646"/>
                </a:solidFill>
              </a:rPr>
              <a:t>GitHub / Docker (Sail)</a:t>
            </a:r>
            <a:endParaRPr sz="2800" dirty="0">
              <a:solidFill>
                <a:srgbClr val="464646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394038" y="1847800"/>
            <a:ext cx="109728" cy="43891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1828800"/>
            <a:ext cx="4389120" cy="3298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B2B2B"/>
                </a:solidFill>
              </a:defRPr>
            </a:pPr>
            <a:r>
              <a:rPr sz="3200" dirty="0"/>
              <a:t>✨ UI/</a:t>
            </a:r>
            <a:r>
              <a:rPr sz="3200" dirty="0" err="1"/>
              <a:t>UXの工夫</a:t>
            </a:r>
            <a:endParaRPr sz="3200" dirty="0"/>
          </a:p>
          <a:p>
            <a:pPr>
              <a:defRPr sz="1300">
                <a:solidFill>
                  <a:srgbClr val="464646"/>
                </a:solidFill>
              </a:defRPr>
            </a:pPr>
            <a:r>
              <a:rPr sz="2800" dirty="0"/>
              <a:t>・</a:t>
            </a:r>
            <a:r>
              <a:rPr sz="2800" dirty="0" err="1"/>
              <a:t>評価スライダー操作に連動した背景色の動的変更（JavaScript</a:t>
            </a:r>
            <a:r>
              <a:rPr sz="2800" dirty="0"/>
              <a:t>）</a:t>
            </a:r>
            <a:br>
              <a:rPr sz="2800" dirty="0"/>
            </a:br>
            <a:r>
              <a:rPr sz="2800" dirty="0"/>
              <a:t>・</a:t>
            </a:r>
            <a:r>
              <a:rPr sz="2800" dirty="0" err="1"/>
              <a:t>タブ切り替えによる投稿フォームとタグ一覧の柔軟な画面切り替え</a:t>
            </a:r>
            <a:endParaRPr sz="2800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CB5D9819-243B-4131-B3E2-FC5140FCA027}"/>
              </a:ext>
            </a:extLst>
          </p:cNvPr>
          <p:cNvSpPr/>
          <p:nvPr/>
        </p:nvSpPr>
        <p:spPr>
          <a:xfrm>
            <a:off x="301939" y="6400800"/>
            <a:ext cx="886781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050" dirty="0" err="1"/>
              <a:t>MovieMood</a:t>
            </a:r>
            <a:r>
              <a:rPr lang="en-US" altLang="ja-JP" sz="1050" dirty="0"/>
              <a:t> </a:t>
            </a:r>
            <a:endParaRPr lang="ja-JP" alt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8079456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B2B2B"/>
                </a:solidFill>
              </a:defRPr>
            </a:pPr>
            <a:r>
              <a:rPr lang="en-US" altLang="ja-JP" sz="4000" dirty="0"/>
              <a:t>04.</a:t>
            </a:r>
            <a:r>
              <a:rPr sz="4000" dirty="0"/>
              <a:t>データベース設計 &amp; </a:t>
            </a:r>
            <a:r>
              <a:rPr sz="4000" dirty="0" err="1"/>
              <a:t>Docker環境</a:t>
            </a:r>
            <a:endParaRPr dirty="0"/>
          </a:p>
          <a:p>
            <a:pPr>
              <a:defRPr sz="1400">
                <a:solidFill>
                  <a:srgbClr val="646464"/>
                </a:solidFill>
              </a:defRPr>
            </a:pPr>
            <a:r>
              <a:rPr lang="ja-JP" altLang="en-US" sz="2000" dirty="0"/>
              <a:t>　　</a:t>
            </a:r>
            <a:r>
              <a:rPr sz="2000" dirty="0" err="1"/>
              <a:t>パフォーマンスと環境統一を考慮した構造</a:t>
            </a:r>
            <a:endParaRPr sz="2000" dirty="0"/>
          </a:p>
        </p:txBody>
      </p:sp>
      <p:sp>
        <p:nvSpPr>
          <p:cNvPr id="4" name="Rounded Rectangle 3"/>
          <p:cNvSpPr/>
          <p:nvPr/>
        </p:nvSpPr>
        <p:spPr>
          <a:xfrm>
            <a:off x="969264" y="1652741"/>
            <a:ext cx="5126736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109728" cy="43891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1828800"/>
            <a:ext cx="5071872" cy="3606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B2B2B"/>
                </a:solidFill>
              </a:defRPr>
            </a:pPr>
            <a:r>
              <a:rPr sz="2800" dirty="0"/>
              <a:t>🐳 3コンテナ分離構成</a:t>
            </a:r>
          </a:p>
          <a:p>
            <a:pPr>
              <a:defRPr sz="1300">
                <a:solidFill>
                  <a:srgbClr val="464646"/>
                </a:solidFill>
              </a:defRPr>
            </a:pPr>
            <a:endParaRPr lang="en-US" altLang="ja-JP" sz="2400" dirty="0"/>
          </a:p>
          <a:p>
            <a:pPr>
              <a:defRPr sz="1300">
                <a:solidFill>
                  <a:srgbClr val="464646"/>
                </a:solidFill>
              </a:defRPr>
            </a:pPr>
            <a:r>
              <a:rPr sz="2800" dirty="0"/>
              <a:t>・</a:t>
            </a:r>
            <a:r>
              <a:rPr sz="2800" b="1" dirty="0" err="1"/>
              <a:t>laravel.test</a:t>
            </a:r>
            <a:r>
              <a:rPr sz="2800" dirty="0"/>
              <a:t>: </a:t>
            </a:r>
            <a:r>
              <a:rPr sz="2800" dirty="0" err="1"/>
              <a:t>アプリ実行</a:t>
            </a:r>
            <a:br>
              <a:rPr sz="2800" dirty="0"/>
            </a:br>
            <a:r>
              <a:rPr sz="2800" dirty="0"/>
              <a:t>・</a:t>
            </a:r>
            <a:r>
              <a:rPr sz="2800" b="1" dirty="0" err="1"/>
              <a:t>mysql</a:t>
            </a:r>
            <a:r>
              <a:rPr sz="2800" dirty="0"/>
              <a:t>: </a:t>
            </a:r>
            <a:r>
              <a:rPr sz="2800" dirty="0" err="1"/>
              <a:t>データの保存・管理</a:t>
            </a:r>
            <a:br>
              <a:rPr sz="2800" dirty="0"/>
            </a:br>
            <a:r>
              <a:rPr sz="2800" dirty="0"/>
              <a:t>・</a:t>
            </a:r>
            <a:r>
              <a:rPr sz="2800" b="1" dirty="0" err="1"/>
              <a:t>phpmyadmin</a:t>
            </a:r>
            <a:r>
              <a:rPr sz="2800" dirty="0"/>
              <a:t>: </a:t>
            </a:r>
            <a:r>
              <a:rPr sz="2800" dirty="0" err="1"/>
              <a:t>GUIでのDB管理</a:t>
            </a:r>
            <a:br>
              <a:rPr sz="2800" dirty="0"/>
            </a:br>
            <a:endParaRPr lang="en-US" altLang="ja-JP" sz="2800" dirty="0"/>
          </a:p>
          <a:p>
            <a:pPr>
              <a:defRPr sz="1300">
                <a:solidFill>
                  <a:srgbClr val="464646"/>
                </a:solidFill>
              </a:defRPr>
            </a:pPr>
            <a:r>
              <a:rPr sz="2800" dirty="0"/>
              <a:t>※</a:t>
            </a:r>
            <a:r>
              <a:rPr sz="2800" dirty="0" err="1"/>
              <a:t>開発環境の再現性向と</a:t>
            </a:r>
            <a:r>
              <a:rPr lang="ja-JP" altLang="en-US" sz="2800" dirty="0"/>
              <a:t>　</a:t>
            </a:r>
            <a:endParaRPr lang="en-US" altLang="ja-JP" sz="2800" dirty="0"/>
          </a:p>
          <a:p>
            <a:pPr>
              <a:defRPr sz="1300">
                <a:solidFill>
                  <a:srgbClr val="464646"/>
                </a:solidFill>
              </a:defRPr>
            </a:pPr>
            <a:r>
              <a:rPr lang="ja-JP" altLang="en-US" sz="2800" dirty="0"/>
              <a:t>　</a:t>
            </a:r>
            <a:r>
              <a:rPr sz="2800" dirty="0" err="1"/>
              <a:t>独立性を確保</a:t>
            </a:r>
            <a:endParaRPr sz="2800" dirty="0"/>
          </a:p>
        </p:txBody>
      </p:sp>
      <p:sp>
        <p:nvSpPr>
          <p:cNvPr id="7" name="Rounded Rectangle 6"/>
          <p:cNvSpPr/>
          <p:nvPr/>
        </p:nvSpPr>
        <p:spPr>
          <a:xfrm>
            <a:off x="6510528" y="1683519"/>
            <a:ext cx="5193792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0" y="1645920"/>
            <a:ext cx="109728" cy="438912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1056" y="1828800"/>
            <a:ext cx="5212080" cy="4098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B2B2B"/>
                </a:solidFill>
              </a:defRPr>
            </a:pPr>
            <a:r>
              <a:rPr sz="2800" dirty="0"/>
              <a:t>🔗 </a:t>
            </a:r>
            <a:r>
              <a:rPr sz="2800" dirty="0" err="1"/>
              <a:t>効率的なデータ構造</a:t>
            </a:r>
            <a:endParaRPr sz="2800" dirty="0"/>
          </a:p>
          <a:p>
            <a:pPr>
              <a:defRPr sz="1300">
                <a:solidFill>
                  <a:srgbClr val="464646"/>
                </a:solidFill>
              </a:defRPr>
            </a:pPr>
            <a:endParaRPr lang="en-US" altLang="ja-JP" sz="2800" b="1" dirty="0"/>
          </a:p>
          <a:p>
            <a:pPr>
              <a:defRPr sz="1300">
                <a:solidFill>
                  <a:srgbClr val="464646"/>
                </a:solidFill>
              </a:defRPr>
            </a:pPr>
            <a:r>
              <a:rPr sz="2800" dirty="0"/>
              <a:t>・</a:t>
            </a:r>
            <a:r>
              <a:rPr sz="2800" dirty="0" err="1"/>
              <a:t>TMDBデータのキャッシュによる通信最適化</a:t>
            </a:r>
            <a:br>
              <a:rPr sz="2800" dirty="0"/>
            </a:br>
            <a:r>
              <a:rPr sz="2800" dirty="0"/>
              <a:t>・</a:t>
            </a:r>
            <a:r>
              <a:rPr sz="2800" dirty="0" err="1"/>
              <a:t>複数タグを紐づける</a:t>
            </a:r>
            <a:endParaRPr lang="en-US" altLang="ja-JP" sz="2800" dirty="0"/>
          </a:p>
          <a:p>
            <a:pPr>
              <a:defRPr sz="1300">
                <a:solidFill>
                  <a:srgbClr val="464646"/>
                </a:solidFill>
              </a:defRPr>
            </a:pPr>
            <a:r>
              <a:rPr sz="2800" dirty="0"/>
              <a:t>「</a:t>
            </a:r>
            <a:r>
              <a:rPr sz="2800" dirty="0" err="1"/>
              <a:t>多対多（中間テーブ</a:t>
            </a:r>
            <a:r>
              <a:rPr lang="ja-JP" altLang="en-US" sz="2800" dirty="0"/>
              <a:t>ル</a:t>
            </a:r>
          </a:p>
          <a:p>
            <a:pPr>
              <a:defRPr sz="1300">
                <a:solidFill>
                  <a:srgbClr val="464646"/>
                </a:solidFill>
              </a:defRPr>
            </a:pPr>
            <a:r>
              <a:rPr lang="ja-JP" altLang="en-US" sz="2800" dirty="0"/>
              <a:t>）」構造</a:t>
            </a:r>
            <a:br>
              <a:rPr lang="ja-JP" altLang="en-US" sz="2800" dirty="0"/>
            </a:br>
            <a:r>
              <a:rPr lang="ja-JP" altLang="en-US" sz="2800" dirty="0"/>
              <a:t>・</a:t>
            </a:r>
            <a:r>
              <a:rPr lang="en-US" altLang="ja-JP" sz="2800" dirty="0"/>
              <a:t>Eloquent ORM</a:t>
            </a:r>
            <a:r>
              <a:rPr lang="ja-JP" altLang="en-US" sz="2800" dirty="0"/>
              <a:t>による</a:t>
            </a:r>
            <a:r>
              <a:rPr lang="en-US" altLang="ja-JP" sz="2800" dirty="0"/>
              <a:t>SQL</a:t>
            </a:r>
            <a:r>
              <a:rPr lang="ja-JP" altLang="en-US" sz="2800" dirty="0"/>
              <a:t>インジェクション防止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B6E4178-2F60-48E1-B80C-498FF9B532FB}"/>
              </a:ext>
            </a:extLst>
          </p:cNvPr>
          <p:cNvSpPr/>
          <p:nvPr/>
        </p:nvSpPr>
        <p:spPr>
          <a:xfrm>
            <a:off x="301939" y="6400800"/>
            <a:ext cx="886781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050" dirty="0" err="1"/>
              <a:t>MovieMood</a:t>
            </a:r>
            <a:r>
              <a:rPr lang="en-US" altLang="ja-JP" sz="1050" dirty="0"/>
              <a:t> </a:t>
            </a:r>
            <a:endParaRPr lang="ja-JP" alt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01939" y="604287"/>
            <a:ext cx="220568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B2B2B"/>
                </a:solidFill>
              </a:defRPr>
            </a:pPr>
            <a:r>
              <a:rPr lang="en-US" altLang="ja-JP" sz="4800" dirty="0"/>
              <a:t>05.</a:t>
            </a:r>
            <a:r>
              <a:rPr sz="4800" dirty="0"/>
              <a:t>デモ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7179A4F9-0D37-4DAA-8C86-1188C7A83D3D}"/>
              </a:ext>
            </a:extLst>
          </p:cNvPr>
          <p:cNvSpPr/>
          <p:nvPr/>
        </p:nvSpPr>
        <p:spPr>
          <a:xfrm>
            <a:off x="301939" y="6400800"/>
            <a:ext cx="886781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050" dirty="0" err="1"/>
              <a:t>MovieMood</a:t>
            </a:r>
            <a:r>
              <a:rPr lang="en-US" altLang="ja-JP" sz="1050" dirty="0"/>
              <a:t> </a:t>
            </a:r>
            <a:endParaRPr lang="ja-JP" altLang="en-US" sz="1050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984088CF-DB48-4A09-8E0C-F0652F1537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9032" y="2152995"/>
            <a:ext cx="9340735" cy="3995569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D1C7755-055A-4A21-B4D0-32BAFFBE334F}"/>
              </a:ext>
            </a:extLst>
          </p:cNvPr>
          <p:cNvSpPr txBox="1"/>
          <p:nvPr/>
        </p:nvSpPr>
        <p:spPr>
          <a:xfrm>
            <a:off x="4677141" y="598689"/>
            <a:ext cx="36937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400" b="1" dirty="0" err="1">
                <a:solidFill>
                  <a:srgbClr val="2B2B2B"/>
                </a:solidFill>
              </a:rPr>
              <a:t>MovieMood</a:t>
            </a:r>
            <a:endParaRPr lang="ja-JP" altLang="en-US" sz="4400" b="1" dirty="0">
              <a:solidFill>
                <a:srgbClr val="2B2B2B"/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8EE2C6F-7B65-43BE-9608-825FE918A12C}"/>
              </a:ext>
            </a:extLst>
          </p:cNvPr>
          <p:cNvSpPr/>
          <p:nvPr/>
        </p:nvSpPr>
        <p:spPr>
          <a:xfrm>
            <a:off x="3305694" y="1486123"/>
            <a:ext cx="679426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2B2B2B"/>
                </a:solidFill>
              </a:defRPr>
            </a:pPr>
            <a:r>
              <a:rPr lang="en-US" altLang="ja-JP" dirty="0"/>
              <a:t>〜 </a:t>
            </a:r>
            <a:r>
              <a:rPr lang="ja-JP" altLang="en-US" dirty="0"/>
              <a:t>あなたの「今の気分」が、次に観る映画を決める。 </a:t>
            </a:r>
            <a:r>
              <a:rPr lang="en-US" altLang="ja-JP" dirty="0"/>
              <a:t>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01939" y="401211"/>
            <a:ext cx="286789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B2B2B"/>
                </a:solidFill>
              </a:defRPr>
            </a:pPr>
            <a:r>
              <a:rPr lang="en-US" altLang="ja-JP" sz="4800" dirty="0"/>
              <a:t>06.</a:t>
            </a:r>
            <a:r>
              <a:rPr lang="ja-JP" altLang="en-US" sz="4800" dirty="0"/>
              <a:t>まとめ</a:t>
            </a:r>
            <a:endParaRPr sz="4800" dirty="0"/>
          </a:p>
        </p:txBody>
      </p:sp>
      <p:sp>
        <p:nvSpPr>
          <p:cNvPr id="4" name="Rounded Rectangle 3"/>
          <p:cNvSpPr/>
          <p:nvPr/>
        </p:nvSpPr>
        <p:spPr>
          <a:xfrm>
            <a:off x="962887" y="1506872"/>
            <a:ext cx="10979177" cy="4835921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156C245-AEC4-4009-815C-C2ED456838B8}"/>
              </a:ext>
            </a:extLst>
          </p:cNvPr>
          <p:cNvSpPr/>
          <p:nvPr/>
        </p:nvSpPr>
        <p:spPr>
          <a:xfrm>
            <a:off x="301939" y="6400800"/>
            <a:ext cx="886781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050" dirty="0" err="1"/>
              <a:t>MovieMood</a:t>
            </a:r>
            <a:r>
              <a:rPr lang="en-US" altLang="ja-JP" sz="1050" dirty="0"/>
              <a:t> </a:t>
            </a:r>
            <a:endParaRPr lang="ja-JP" altLang="en-US" sz="1050" dirty="0"/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0FCA018E-3CCF-44EB-96F9-8760026C7795}"/>
              </a:ext>
            </a:extLst>
          </p:cNvPr>
          <p:cNvSpPr/>
          <p:nvPr/>
        </p:nvSpPr>
        <p:spPr>
          <a:xfrm>
            <a:off x="859534" y="1602891"/>
            <a:ext cx="109728" cy="1513235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166D40A9-2A31-4755-B520-ED57E44319C4}"/>
              </a:ext>
            </a:extLst>
          </p:cNvPr>
          <p:cNvSpPr txBox="1"/>
          <p:nvPr/>
        </p:nvSpPr>
        <p:spPr>
          <a:xfrm>
            <a:off x="1407413" y="1613668"/>
            <a:ext cx="10096500" cy="6427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B2B2B"/>
                </a:solidFill>
              </a:defRPr>
            </a:pPr>
            <a:r>
              <a:rPr lang="ja-JP" altLang="en-US" sz="2800" dirty="0"/>
              <a:t>■ 開発を通した気づき・反省点</a:t>
            </a:r>
          </a:p>
          <a:p>
            <a:pPr>
              <a:spcAft>
                <a:spcPts val="1000"/>
              </a:spcAft>
              <a:defRPr sz="1800" b="1">
                <a:solidFill>
                  <a:srgbClr val="2B2B2B"/>
                </a:solidFill>
              </a:defRPr>
            </a:pPr>
            <a:r>
              <a:rPr lang="ja-JP" altLang="en-US" sz="2400" dirty="0"/>
              <a:t> 　・当初の画面・機能設計の甘さとスケジュール管理の難しさを実感</a:t>
            </a:r>
          </a:p>
          <a:p>
            <a:pPr>
              <a:spcAft>
                <a:spcPts val="1000"/>
              </a:spcAft>
              <a:defRPr sz="1800" b="1">
                <a:solidFill>
                  <a:srgbClr val="2B2B2B"/>
                </a:solidFill>
              </a:defRPr>
            </a:pPr>
            <a:r>
              <a:rPr lang="ja-JP" altLang="en-US" sz="2400" dirty="0"/>
              <a:t>　・実装を通して自身のコード理解度の不足を痛感</a:t>
            </a:r>
            <a:endParaRPr lang="en-US" altLang="ja-JP" sz="2400" dirty="0"/>
          </a:p>
          <a:p>
            <a:pPr>
              <a:spcAft>
                <a:spcPts val="1000"/>
              </a:spcAft>
              <a:defRPr sz="1800" b="1">
                <a:solidFill>
                  <a:srgbClr val="2B2B2B"/>
                </a:solidFill>
              </a:defRPr>
            </a:pPr>
            <a:r>
              <a:rPr lang="ja-JP" altLang="en-US" sz="2800" dirty="0"/>
              <a:t>■ 得られた成果・学び</a:t>
            </a:r>
          </a:p>
          <a:p>
            <a:pPr>
              <a:spcAft>
                <a:spcPts val="1000"/>
              </a:spcAft>
              <a:defRPr sz="1800" b="1">
                <a:solidFill>
                  <a:srgbClr val="2B2B2B"/>
                </a:solidFill>
              </a:defRPr>
            </a:pPr>
            <a:r>
              <a:rPr lang="ja-JP" altLang="en-US" sz="2400" dirty="0"/>
              <a:t>　・課題に直面する中で、バックエンド（</a:t>
            </a:r>
            <a:r>
              <a:rPr lang="en-US" altLang="ja-JP" sz="2400" dirty="0"/>
              <a:t>Laravel</a:t>
            </a:r>
            <a:r>
              <a:rPr lang="ja-JP" altLang="en-US" sz="2400" dirty="0"/>
              <a:t>）と画面の構造理解が深まった</a:t>
            </a:r>
          </a:p>
          <a:p>
            <a:pPr>
              <a:spcAft>
                <a:spcPts val="1000"/>
              </a:spcAft>
              <a:defRPr sz="1800" b="1">
                <a:solidFill>
                  <a:srgbClr val="2B2B2B"/>
                </a:solidFill>
              </a:defRPr>
            </a:pPr>
            <a:r>
              <a:rPr lang="ja-JP" altLang="en-US" sz="2400" dirty="0"/>
              <a:t>　・レスポンシブ（</a:t>
            </a:r>
            <a:r>
              <a:rPr lang="en-US" altLang="ja-JP" sz="2400" dirty="0"/>
              <a:t>UI/UX</a:t>
            </a:r>
            <a:r>
              <a:rPr lang="ja-JP" altLang="en-US" sz="2400" dirty="0"/>
              <a:t>）対応など、ユーザー視点の画面改善を実施</a:t>
            </a:r>
            <a:endParaRPr lang="en-US" altLang="ja-JP" sz="2400" dirty="0"/>
          </a:p>
          <a:p>
            <a:pPr>
              <a:spcAft>
                <a:spcPts val="1000"/>
              </a:spcAft>
              <a:defRPr sz="1800" b="1">
                <a:solidFill>
                  <a:srgbClr val="2B2B2B"/>
                </a:solidFill>
              </a:defRPr>
            </a:pPr>
            <a:r>
              <a:rPr lang="ja-JP" altLang="en-US" sz="2800" dirty="0"/>
              <a:t>■ 今後の展開（追加したい機能）</a:t>
            </a:r>
          </a:p>
          <a:p>
            <a:pPr>
              <a:spcAft>
                <a:spcPts val="1000"/>
              </a:spcAft>
              <a:defRPr sz="1800" b="1">
                <a:solidFill>
                  <a:srgbClr val="2B2B2B"/>
                </a:solidFill>
              </a:defRPr>
            </a:pPr>
            <a:r>
              <a:rPr lang="ja-JP" altLang="en-US" sz="2400" dirty="0"/>
              <a:t>　・「気分</a:t>
            </a:r>
            <a:r>
              <a:rPr lang="en-US" altLang="ja-JP" sz="2400" dirty="0"/>
              <a:t>×</a:t>
            </a:r>
            <a:r>
              <a:rPr lang="ja-JP" altLang="en-US" sz="2400" dirty="0"/>
              <a:t>天気</a:t>
            </a:r>
            <a:r>
              <a:rPr lang="en-US" altLang="ja-JP" sz="2400" dirty="0"/>
              <a:t>API</a:t>
            </a:r>
            <a:r>
              <a:rPr lang="ja-JP" altLang="en-US" sz="2400" dirty="0"/>
              <a:t>」連携（例：雨の日にピッタリな映画の提案）</a:t>
            </a:r>
          </a:p>
          <a:p>
            <a:pPr>
              <a:spcAft>
                <a:spcPts val="1000"/>
              </a:spcAft>
              <a:defRPr sz="1800" b="1">
                <a:solidFill>
                  <a:srgbClr val="2B2B2B"/>
                </a:solidFill>
              </a:defRPr>
            </a:pPr>
            <a:r>
              <a:rPr lang="ja-JP" altLang="en-US" sz="2400" dirty="0"/>
              <a:t>　・</a:t>
            </a:r>
            <a:r>
              <a:rPr lang="en-US" altLang="ja-JP" sz="2400" dirty="0"/>
              <a:t>UI</a:t>
            </a:r>
            <a:r>
              <a:rPr lang="ja-JP" altLang="en-US" sz="2400" dirty="0"/>
              <a:t>デザインのアップデートと感情タグのバリエーション拡張</a:t>
            </a:r>
            <a:endParaRPr kumimoji="1" lang="ja-JP" altLang="en-US" sz="2400" dirty="0"/>
          </a:p>
          <a:p>
            <a:pPr>
              <a:spcAft>
                <a:spcPts val="1000"/>
              </a:spcAft>
              <a:defRPr sz="1800" b="1">
                <a:solidFill>
                  <a:srgbClr val="2B2B2B"/>
                </a:solidFill>
              </a:defRPr>
            </a:pPr>
            <a:endParaRPr lang="ja-JP" altLang="en-US" sz="2400" dirty="0"/>
          </a:p>
          <a:p>
            <a:pPr>
              <a:spcAft>
                <a:spcPts val="1000"/>
              </a:spcAft>
              <a:defRPr sz="1800" b="1">
                <a:solidFill>
                  <a:srgbClr val="2B2B2B"/>
                </a:solidFill>
              </a:defRPr>
            </a:pPr>
            <a:endParaRPr lang="en-US" altLang="ja-JP" sz="2800" dirty="0"/>
          </a:p>
          <a:p>
            <a:pPr>
              <a:spcAft>
                <a:spcPts val="1000"/>
              </a:spcAft>
              <a:defRPr sz="1800" b="1">
                <a:solidFill>
                  <a:srgbClr val="2B2B2B"/>
                </a:solidFill>
              </a:defRPr>
            </a:pPr>
            <a:endParaRPr lang="ja-JP" altLang="en-US" sz="2800" dirty="0"/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19A17633-7256-4D68-BE5F-14AB8D8785EB}"/>
              </a:ext>
            </a:extLst>
          </p:cNvPr>
          <p:cNvSpPr/>
          <p:nvPr/>
        </p:nvSpPr>
        <p:spPr>
          <a:xfrm>
            <a:off x="853159" y="3185033"/>
            <a:ext cx="109728" cy="1513235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CFC5A7CC-E809-490F-8F18-C896B92C2EB1}"/>
              </a:ext>
            </a:extLst>
          </p:cNvPr>
          <p:cNvSpPr/>
          <p:nvPr/>
        </p:nvSpPr>
        <p:spPr>
          <a:xfrm>
            <a:off x="859534" y="4827369"/>
            <a:ext cx="109728" cy="1513235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-208"/>
            <a:ext cx="12191695" cy="18288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FAFB88E5-9A0B-4253-9854-F5962624C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22" y="3184994"/>
            <a:ext cx="6861812" cy="3074489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8E1B8B46-F1A9-40FA-A713-03111E1F0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279" y="1322774"/>
            <a:ext cx="3113973" cy="5078025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AC65A4A-BC73-45EC-AB1C-33D2E9DE1949}"/>
              </a:ext>
            </a:extLst>
          </p:cNvPr>
          <p:cNvSpPr txBox="1"/>
          <p:nvPr/>
        </p:nvSpPr>
        <p:spPr>
          <a:xfrm>
            <a:off x="324194" y="389889"/>
            <a:ext cx="52785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800" b="1" dirty="0"/>
              <a:t>UI / US</a:t>
            </a:r>
            <a:r>
              <a:rPr kumimoji="1" lang="ja-JP" altLang="en-US" sz="4800" b="1" dirty="0"/>
              <a:t>の改善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8E98303-6CD2-48A0-ABF4-2C454EE34291}"/>
              </a:ext>
            </a:extLst>
          </p:cNvPr>
          <p:cNvSpPr txBox="1"/>
          <p:nvPr/>
        </p:nvSpPr>
        <p:spPr>
          <a:xfrm>
            <a:off x="407322" y="2313673"/>
            <a:ext cx="3113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/>
              <a:t>ログイン画面（</a:t>
            </a:r>
            <a:r>
              <a:rPr kumimoji="1" lang="en-US" altLang="ja-JP" sz="2800" dirty="0"/>
              <a:t>PC</a:t>
            </a:r>
            <a:r>
              <a:rPr kumimoji="1" lang="ja-JP" altLang="en-US" sz="2800" dirty="0"/>
              <a:t>）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685B264-03A3-4A11-A259-80D2C382AF46}"/>
              </a:ext>
            </a:extLst>
          </p:cNvPr>
          <p:cNvSpPr txBox="1"/>
          <p:nvPr/>
        </p:nvSpPr>
        <p:spPr>
          <a:xfrm>
            <a:off x="7413099" y="702211"/>
            <a:ext cx="3918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/>
              <a:t>ログイン画面　（スマホ）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398E81C-D017-4B49-A808-25E628670445}"/>
              </a:ext>
            </a:extLst>
          </p:cNvPr>
          <p:cNvSpPr txBox="1"/>
          <p:nvPr/>
        </p:nvSpPr>
        <p:spPr>
          <a:xfrm>
            <a:off x="4349651" y="1796143"/>
            <a:ext cx="328946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/>
              <a:t>PC</a:t>
            </a:r>
            <a:r>
              <a:rPr kumimoji="1" lang="ja-JP" altLang="en-US" sz="2400" b="1" dirty="0"/>
              <a:t>版のレイアウト・・・</a:t>
            </a:r>
            <a:endParaRPr kumimoji="1" lang="en-US" altLang="ja-JP" sz="2400" b="1" dirty="0"/>
          </a:p>
          <a:p>
            <a:r>
              <a:rPr kumimoji="1" lang="ja-JP" altLang="en-US" sz="2400" b="1" dirty="0"/>
              <a:t>スマホ版はスッキリ</a:t>
            </a:r>
            <a:endParaRPr kumimoji="1" lang="en-US" altLang="ja-JP" sz="2400" b="1" dirty="0"/>
          </a:p>
          <a:p>
            <a:r>
              <a:rPr kumimoji="1" lang="ja-JP" altLang="en-US" sz="2400" b="1" dirty="0"/>
              <a:t>　                                 </a:t>
            </a:r>
            <a:r>
              <a:rPr kumimoji="1" lang="en-US" altLang="ja-JP" sz="2400" b="1" dirty="0" err="1"/>
              <a:t>etc</a:t>
            </a:r>
            <a:br>
              <a:rPr kumimoji="1" lang="en-US" altLang="ja-JP" b="1" dirty="0"/>
            </a:br>
            <a:endParaRPr kumimoji="1" lang="ja-JP" altLang="en-US" b="1" dirty="0"/>
          </a:p>
        </p:txBody>
      </p:sp>
      <p:sp>
        <p:nvSpPr>
          <p:cNvPr id="4" name="吹き出し: 角を丸めた四角形 3">
            <a:extLst>
              <a:ext uri="{FF2B5EF4-FFF2-40B4-BE49-F238E27FC236}">
                <a16:creationId xmlns:a16="http://schemas.microsoft.com/office/drawing/2014/main" id="{69E49837-0A86-474D-9D8D-2474960EA836}"/>
              </a:ext>
            </a:extLst>
          </p:cNvPr>
          <p:cNvSpPr/>
          <p:nvPr/>
        </p:nvSpPr>
        <p:spPr>
          <a:xfrm>
            <a:off x="4299126" y="1571523"/>
            <a:ext cx="3113973" cy="1435884"/>
          </a:xfrm>
          <a:prstGeom prst="wedgeRoundRectCallout">
            <a:avLst>
              <a:gd name="adj1" fmla="val -42438"/>
              <a:gd name="adj2" fmla="val -67973"/>
              <a:gd name="adj3" fmla="val 16667"/>
            </a:avLst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4458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75855" y="2152376"/>
            <a:ext cx="63566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B2B2B"/>
                </a:solidFill>
              </a:defRPr>
            </a:pPr>
            <a:r>
              <a:rPr lang="ja-JP" altLang="en-US" sz="5400" dirty="0"/>
              <a:t>質疑応答</a:t>
            </a:r>
            <a:endParaRPr sz="5400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8EB40EB3-1481-412C-B83E-03127C580856}"/>
              </a:ext>
            </a:extLst>
          </p:cNvPr>
          <p:cNvSpPr/>
          <p:nvPr/>
        </p:nvSpPr>
        <p:spPr>
          <a:xfrm>
            <a:off x="301939" y="6400800"/>
            <a:ext cx="886781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050" dirty="0" err="1"/>
              <a:t>MovieMood</a:t>
            </a:r>
            <a:r>
              <a:rPr lang="en-US" altLang="ja-JP" sz="1050" dirty="0"/>
              <a:t> </a:t>
            </a:r>
            <a:endParaRPr lang="ja-JP" altLang="en-US" sz="105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1C52E91-8764-462C-9395-DC80BE3A0B7A}"/>
              </a:ext>
            </a:extLst>
          </p:cNvPr>
          <p:cNvSpPr txBox="1"/>
          <p:nvPr/>
        </p:nvSpPr>
        <p:spPr>
          <a:xfrm>
            <a:off x="4656437" y="3782295"/>
            <a:ext cx="51954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6000" b="1" dirty="0">
                <a:solidFill>
                  <a:schemeClr val="bg1">
                    <a:lumMod val="50000"/>
                  </a:schemeClr>
                </a:solidFill>
              </a:rPr>
              <a:t>Q&amp;A</a:t>
            </a:r>
            <a:endParaRPr kumimoji="1" lang="ja-JP" altLang="en-US" sz="6000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66282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99651" y="2368510"/>
            <a:ext cx="97923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B2B2B"/>
                </a:solidFill>
              </a:defRPr>
            </a:pPr>
            <a:r>
              <a:rPr sz="5400" dirty="0" err="1"/>
              <a:t>ご清聴ありがとうございまし</a:t>
            </a:r>
            <a:r>
              <a:rPr lang="ja-JP" altLang="en-US" sz="5400" dirty="0"/>
              <a:t>た</a:t>
            </a:r>
            <a:endParaRPr sz="5400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8EB40EB3-1481-412C-B83E-03127C580856}"/>
              </a:ext>
            </a:extLst>
          </p:cNvPr>
          <p:cNvSpPr/>
          <p:nvPr/>
        </p:nvSpPr>
        <p:spPr>
          <a:xfrm>
            <a:off x="301939" y="6400800"/>
            <a:ext cx="886781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050" dirty="0" err="1"/>
              <a:t>MovieMood</a:t>
            </a:r>
            <a:r>
              <a:rPr lang="en-US" altLang="ja-JP" sz="1050" dirty="0"/>
              <a:t> </a:t>
            </a:r>
            <a:endParaRPr lang="ja-JP" altLang="en-US" sz="105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1C52E91-8764-462C-9395-DC80BE3A0B7A}"/>
              </a:ext>
            </a:extLst>
          </p:cNvPr>
          <p:cNvSpPr txBox="1"/>
          <p:nvPr/>
        </p:nvSpPr>
        <p:spPr>
          <a:xfrm>
            <a:off x="4006734" y="4189617"/>
            <a:ext cx="51954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6000" b="1" dirty="0">
                <a:solidFill>
                  <a:schemeClr val="bg1">
                    <a:lumMod val="50000"/>
                  </a:schemeClr>
                </a:solidFill>
              </a:rPr>
              <a:t>THANK</a:t>
            </a:r>
            <a:r>
              <a:rPr kumimoji="1" lang="ja-JP" altLang="en-US" sz="60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kumimoji="1" lang="en-US" altLang="ja-JP" sz="6000" b="1" dirty="0">
                <a:solidFill>
                  <a:schemeClr val="bg1">
                    <a:lumMod val="50000"/>
                  </a:schemeClr>
                </a:solidFill>
              </a:rPr>
              <a:t>YOU</a:t>
            </a:r>
            <a:endParaRPr kumimoji="1" lang="ja-JP" altLang="en-US" sz="6000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532</TotalTime>
  <Words>901</Words>
  <Application>Microsoft Office PowerPoint</Application>
  <PresentationFormat>ワイド画面</PresentationFormat>
  <Paragraphs>114</Paragraphs>
  <Slides>11</Slides>
  <Notes>7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6" baseType="lpstr">
      <vt:lpstr>ＭＳ Ｐゴシック</vt:lpstr>
      <vt:lpstr>游ゴシック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subject/>
  <dc:creator>259001</dc:creator>
  <cp:keywords/>
  <dc:description>generated using python-pptx</dc:description>
  <cp:lastModifiedBy>2025_CS 安部 夏南子</cp:lastModifiedBy>
  <cp:revision>36</cp:revision>
  <dcterms:created xsi:type="dcterms:W3CDTF">2013-01-27T09:14:16Z</dcterms:created>
  <dcterms:modified xsi:type="dcterms:W3CDTF">2026-10-06T05:18:14Z</dcterms:modified>
  <cp:category/>
</cp:coreProperties>
</file>